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64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1" autoAdjust="0"/>
    <p:restoredTop sz="94660"/>
  </p:normalViewPr>
  <p:slideViewPr>
    <p:cSldViewPr snapToGrid="0">
      <p:cViewPr>
        <p:scale>
          <a:sx n="62" d="100"/>
          <a:sy n="62" d="100"/>
        </p:scale>
        <p:origin x="42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DBF78F-7392-4E99-9C91-5896823F339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57A15E2C-43D2-4A34-B0CC-4B41D88B922B}">
      <dgm:prSet/>
      <dgm:spPr/>
      <dgm:t>
        <a:bodyPr/>
        <a:lstStyle/>
        <a:p>
          <a:r>
            <a:rPr lang="en-US"/>
            <a:t>Where are Rockbuster’s customers located?</a:t>
          </a:r>
        </a:p>
      </dgm:t>
    </dgm:pt>
    <dgm:pt modelId="{48BA7B90-C89B-4E35-9DB3-0003D6BF9F90}" type="parTrans" cxnId="{99276C83-1DF6-480D-987C-5D56BDEB5EC5}">
      <dgm:prSet/>
      <dgm:spPr/>
      <dgm:t>
        <a:bodyPr/>
        <a:lstStyle/>
        <a:p>
          <a:endParaRPr lang="en-US"/>
        </a:p>
      </dgm:t>
    </dgm:pt>
    <dgm:pt modelId="{3F782E96-31D6-41B2-A1D9-BD114B631707}" type="sibTrans" cxnId="{99276C83-1DF6-480D-987C-5D56BDEB5EC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51B5B9A-058D-4EE8-A7BC-D44C0F0247E1}">
      <dgm:prSet/>
      <dgm:spPr/>
      <dgm:t>
        <a:bodyPr/>
        <a:lstStyle/>
        <a:p>
          <a:r>
            <a:rPr lang="en-US"/>
            <a:t>Which countries generate the most revenue?</a:t>
          </a:r>
        </a:p>
      </dgm:t>
    </dgm:pt>
    <dgm:pt modelId="{DFD1FEFC-6AFD-47D6-933A-4BFFC3791F56}" type="parTrans" cxnId="{2A8000D3-9CAC-4B9F-A21A-A97A9E0FB515}">
      <dgm:prSet/>
      <dgm:spPr/>
      <dgm:t>
        <a:bodyPr/>
        <a:lstStyle/>
        <a:p>
          <a:endParaRPr lang="en-US"/>
        </a:p>
      </dgm:t>
    </dgm:pt>
    <dgm:pt modelId="{CDAB5770-D0AA-4F0A-8C7A-70A3936EAE06}" type="sibTrans" cxnId="{2A8000D3-9CAC-4B9F-A21A-A97A9E0FB51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1A690AA-02CD-4ACF-8F00-56A3B06088CA}">
      <dgm:prSet/>
      <dgm:spPr/>
      <dgm:t>
        <a:bodyPr/>
        <a:lstStyle/>
        <a:p>
          <a:r>
            <a:rPr lang="en-US"/>
            <a:t>Are revenue and customer count aligned?</a:t>
          </a:r>
        </a:p>
      </dgm:t>
    </dgm:pt>
    <dgm:pt modelId="{7653D387-8D30-427C-91D3-A2B9DAC3448C}" type="parTrans" cxnId="{D090D652-09F3-4323-85B5-0C960C300044}">
      <dgm:prSet/>
      <dgm:spPr/>
      <dgm:t>
        <a:bodyPr/>
        <a:lstStyle/>
        <a:p>
          <a:endParaRPr lang="en-US"/>
        </a:p>
      </dgm:t>
    </dgm:pt>
    <dgm:pt modelId="{020D6D09-E78C-42A0-806B-0218D9A6A80A}" type="sibTrans" cxnId="{D090D652-09F3-4323-85B5-0C960C30004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6F3E2EE-D507-4AC9-AF3F-77A2BBC90AF0}">
      <dgm:prSet/>
      <dgm:spPr/>
      <dgm:t>
        <a:bodyPr/>
        <a:lstStyle/>
        <a:p>
          <a:r>
            <a:rPr lang="en-US"/>
            <a:t>Who are the most valuable customers? </a:t>
          </a:r>
        </a:p>
      </dgm:t>
    </dgm:pt>
    <dgm:pt modelId="{39250E4C-5A75-4C65-9748-2A05112311E7}" type="parTrans" cxnId="{37C5C3D9-6081-4BE2-A32C-E8B2F83A697B}">
      <dgm:prSet/>
      <dgm:spPr/>
      <dgm:t>
        <a:bodyPr/>
        <a:lstStyle/>
        <a:p>
          <a:endParaRPr lang="en-US"/>
        </a:p>
      </dgm:t>
    </dgm:pt>
    <dgm:pt modelId="{54E11B8F-C7CD-482E-B1CC-BA0C1B4B97D9}" type="sibTrans" cxnId="{37C5C3D9-6081-4BE2-A32C-E8B2F83A697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B3D0545-ADE5-4138-9F0F-F2710E3452D8}">
      <dgm:prSet/>
      <dgm:spPr/>
      <dgm:t>
        <a:bodyPr/>
        <a:lstStyle/>
        <a:p>
          <a:r>
            <a:rPr lang="en-US"/>
            <a:t>How do rental behaviors impact operations?</a:t>
          </a:r>
        </a:p>
      </dgm:t>
    </dgm:pt>
    <dgm:pt modelId="{5F341CE3-4CCD-4B6E-89F0-57D30ACB3036}" type="parTrans" cxnId="{246D6182-2654-4F46-BC76-C7C207352575}">
      <dgm:prSet/>
      <dgm:spPr/>
      <dgm:t>
        <a:bodyPr/>
        <a:lstStyle/>
        <a:p>
          <a:endParaRPr lang="en-US"/>
        </a:p>
      </dgm:t>
    </dgm:pt>
    <dgm:pt modelId="{99B87716-A2E2-4876-B6F6-C8422BCE4B7F}" type="sibTrans" cxnId="{246D6182-2654-4F46-BC76-C7C207352575}">
      <dgm:prSet/>
      <dgm:spPr/>
      <dgm:t>
        <a:bodyPr/>
        <a:lstStyle/>
        <a:p>
          <a:endParaRPr lang="en-US"/>
        </a:p>
      </dgm:t>
    </dgm:pt>
    <dgm:pt modelId="{D104203F-1E12-4513-B25A-37CD077AA33F}" type="pres">
      <dgm:prSet presAssocID="{87DBF78F-7392-4E99-9C91-5896823F3394}" presName="root" presStyleCnt="0">
        <dgm:presLayoutVars>
          <dgm:dir/>
          <dgm:resizeHandles val="exact"/>
        </dgm:presLayoutVars>
      </dgm:prSet>
      <dgm:spPr/>
    </dgm:pt>
    <dgm:pt modelId="{B994D453-0978-4244-9B6B-2440F5E7353A}" type="pres">
      <dgm:prSet presAssocID="{57A15E2C-43D2-4A34-B0CC-4B41D88B922B}" presName="compNode" presStyleCnt="0"/>
      <dgm:spPr/>
    </dgm:pt>
    <dgm:pt modelId="{32E67A37-84A9-4BEB-9593-C5438F73B67F}" type="pres">
      <dgm:prSet presAssocID="{57A15E2C-43D2-4A34-B0CC-4B41D88B922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308A1436-FE24-484C-868E-51AD52E3C54A}" type="pres">
      <dgm:prSet presAssocID="{57A15E2C-43D2-4A34-B0CC-4B41D88B922B}" presName="spaceRect" presStyleCnt="0"/>
      <dgm:spPr/>
    </dgm:pt>
    <dgm:pt modelId="{BB273A17-91D5-407A-A55F-2185EDF73C6E}" type="pres">
      <dgm:prSet presAssocID="{57A15E2C-43D2-4A34-B0CC-4B41D88B922B}" presName="textRect" presStyleLbl="revTx" presStyleIdx="0" presStyleCnt="5">
        <dgm:presLayoutVars>
          <dgm:chMax val="1"/>
          <dgm:chPref val="1"/>
        </dgm:presLayoutVars>
      </dgm:prSet>
      <dgm:spPr/>
    </dgm:pt>
    <dgm:pt modelId="{66CFF434-D4BD-4163-9124-4C7CB0E3931B}" type="pres">
      <dgm:prSet presAssocID="{3F782E96-31D6-41B2-A1D9-BD114B631707}" presName="sibTrans" presStyleCnt="0"/>
      <dgm:spPr/>
    </dgm:pt>
    <dgm:pt modelId="{9E95D824-6CB9-4C63-A381-A400D2AB3ECF}" type="pres">
      <dgm:prSet presAssocID="{851B5B9A-058D-4EE8-A7BC-D44C0F0247E1}" presName="compNode" presStyleCnt="0"/>
      <dgm:spPr/>
    </dgm:pt>
    <dgm:pt modelId="{1A175DB1-4367-4F43-A29D-89B2B8643846}" type="pres">
      <dgm:prSet presAssocID="{851B5B9A-058D-4EE8-A7BC-D44C0F0247E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1899E17B-7858-484F-AC6F-185D551FD1E6}" type="pres">
      <dgm:prSet presAssocID="{851B5B9A-058D-4EE8-A7BC-D44C0F0247E1}" presName="spaceRect" presStyleCnt="0"/>
      <dgm:spPr/>
    </dgm:pt>
    <dgm:pt modelId="{CDC6495E-1606-4022-91EF-3F08C62B98F2}" type="pres">
      <dgm:prSet presAssocID="{851B5B9A-058D-4EE8-A7BC-D44C0F0247E1}" presName="textRect" presStyleLbl="revTx" presStyleIdx="1" presStyleCnt="5">
        <dgm:presLayoutVars>
          <dgm:chMax val="1"/>
          <dgm:chPref val="1"/>
        </dgm:presLayoutVars>
      </dgm:prSet>
      <dgm:spPr/>
    </dgm:pt>
    <dgm:pt modelId="{72884DE7-7C97-465D-8A1A-276638EF8A0F}" type="pres">
      <dgm:prSet presAssocID="{CDAB5770-D0AA-4F0A-8C7A-70A3936EAE06}" presName="sibTrans" presStyleCnt="0"/>
      <dgm:spPr/>
    </dgm:pt>
    <dgm:pt modelId="{C8E3C727-188F-4C9E-A572-B5F603317F47}" type="pres">
      <dgm:prSet presAssocID="{F1A690AA-02CD-4ACF-8F00-56A3B06088CA}" presName="compNode" presStyleCnt="0"/>
      <dgm:spPr/>
    </dgm:pt>
    <dgm:pt modelId="{2F98FBC5-4E9E-481B-93CE-80E83262EB3A}" type="pres">
      <dgm:prSet presAssocID="{F1A690AA-02CD-4ACF-8F00-56A3B06088C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7371D82-BA32-4E4A-9080-5764455E6DBC}" type="pres">
      <dgm:prSet presAssocID="{F1A690AA-02CD-4ACF-8F00-56A3B06088CA}" presName="spaceRect" presStyleCnt="0"/>
      <dgm:spPr/>
    </dgm:pt>
    <dgm:pt modelId="{AA7A2F17-2149-40F7-BE52-FECB90AE78EA}" type="pres">
      <dgm:prSet presAssocID="{F1A690AA-02CD-4ACF-8F00-56A3B06088CA}" presName="textRect" presStyleLbl="revTx" presStyleIdx="2" presStyleCnt="5">
        <dgm:presLayoutVars>
          <dgm:chMax val="1"/>
          <dgm:chPref val="1"/>
        </dgm:presLayoutVars>
      </dgm:prSet>
      <dgm:spPr/>
    </dgm:pt>
    <dgm:pt modelId="{E587FBAA-0512-46AF-A43F-F63D575A929E}" type="pres">
      <dgm:prSet presAssocID="{020D6D09-E78C-42A0-806B-0218D9A6A80A}" presName="sibTrans" presStyleCnt="0"/>
      <dgm:spPr/>
    </dgm:pt>
    <dgm:pt modelId="{9B1C6EC1-D8A0-491D-9EF8-47B9B5BECE51}" type="pres">
      <dgm:prSet presAssocID="{76F3E2EE-D507-4AC9-AF3F-77A2BBC90AF0}" presName="compNode" presStyleCnt="0"/>
      <dgm:spPr/>
    </dgm:pt>
    <dgm:pt modelId="{8102EFBD-6DCF-413C-B0F0-44E293A98448}" type="pres">
      <dgm:prSet presAssocID="{76F3E2EE-D507-4AC9-AF3F-77A2BBC90AF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mond"/>
        </a:ext>
      </dgm:extLst>
    </dgm:pt>
    <dgm:pt modelId="{ADF3F73F-8F8B-4CC2-B27B-A230D07837E0}" type="pres">
      <dgm:prSet presAssocID="{76F3E2EE-D507-4AC9-AF3F-77A2BBC90AF0}" presName="spaceRect" presStyleCnt="0"/>
      <dgm:spPr/>
    </dgm:pt>
    <dgm:pt modelId="{689FA031-CD71-4C74-8426-C3702B8C635F}" type="pres">
      <dgm:prSet presAssocID="{76F3E2EE-D507-4AC9-AF3F-77A2BBC90AF0}" presName="textRect" presStyleLbl="revTx" presStyleIdx="3" presStyleCnt="5">
        <dgm:presLayoutVars>
          <dgm:chMax val="1"/>
          <dgm:chPref val="1"/>
        </dgm:presLayoutVars>
      </dgm:prSet>
      <dgm:spPr/>
    </dgm:pt>
    <dgm:pt modelId="{60EDF0C4-3457-4224-81C8-03CA10DC92DB}" type="pres">
      <dgm:prSet presAssocID="{54E11B8F-C7CD-482E-B1CC-BA0C1B4B97D9}" presName="sibTrans" presStyleCnt="0"/>
      <dgm:spPr/>
    </dgm:pt>
    <dgm:pt modelId="{16FFB465-0801-483F-A207-137965B8F704}" type="pres">
      <dgm:prSet presAssocID="{8B3D0545-ADE5-4138-9F0F-F2710E3452D8}" presName="compNode" presStyleCnt="0"/>
      <dgm:spPr/>
    </dgm:pt>
    <dgm:pt modelId="{5E1C6C2D-9C80-4300-AA99-487FA5D9EF56}" type="pres">
      <dgm:prSet presAssocID="{8B3D0545-ADE5-4138-9F0F-F2710E3452D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B811C09A-F378-4D9A-843A-FA8F9509EE68}" type="pres">
      <dgm:prSet presAssocID="{8B3D0545-ADE5-4138-9F0F-F2710E3452D8}" presName="spaceRect" presStyleCnt="0"/>
      <dgm:spPr/>
    </dgm:pt>
    <dgm:pt modelId="{B930A104-85FD-4D21-9690-A59B86B40A71}" type="pres">
      <dgm:prSet presAssocID="{8B3D0545-ADE5-4138-9F0F-F2710E3452D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304B73F-F832-4C28-962B-339B216121FF}" type="presOf" srcId="{F1A690AA-02CD-4ACF-8F00-56A3B06088CA}" destId="{AA7A2F17-2149-40F7-BE52-FECB90AE78EA}" srcOrd="0" destOrd="0" presId="urn:microsoft.com/office/officeart/2018/2/layout/IconLabelList"/>
    <dgm:cxn modelId="{FC665148-DAFA-4FB9-A934-9177C133CA55}" type="presOf" srcId="{87DBF78F-7392-4E99-9C91-5896823F3394}" destId="{D104203F-1E12-4513-B25A-37CD077AA33F}" srcOrd="0" destOrd="0" presId="urn:microsoft.com/office/officeart/2018/2/layout/IconLabelList"/>
    <dgm:cxn modelId="{87B17051-63C8-4243-9ADB-2E8B137B459D}" type="presOf" srcId="{57A15E2C-43D2-4A34-B0CC-4B41D88B922B}" destId="{BB273A17-91D5-407A-A55F-2185EDF73C6E}" srcOrd="0" destOrd="0" presId="urn:microsoft.com/office/officeart/2018/2/layout/IconLabelList"/>
    <dgm:cxn modelId="{D090D652-09F3-4323-85B5-0C960C300044}" srcId="{87DBF78F-7392-4E99-9C91-5896823F3394}" destId="{F1A690AA-02CD-4ACF-8F00-56A3B06088CA}" srcOrd="2" destOrd="0" parTransId="{7653D387-8D30-427C-91D3-A2B9DAC3448C}" sibTransId="{020D6D09-E78C-42A0-806B-0218D9A6A80A}"/>
    <dgm:cxn modelId="{87F50158-42E4-4A60-AE3D-05CFAFD1F03D}" type="presOf" srcId="{76F3E2EE-D507-4AC9-AF3F-77A2BBC90AF0}" destId="{689FA031-CD71-4C74-8426-C3702B8C635F}" srcOrd="0" destOrd="0" presId="urn:microsoft.com/office/officeart/2018/2/layout/IconLabelList"/>
    <dgm:cxn modelId="{246D6182-2654-4F46-BC76-C7C207352575}" srcId="{87DBF78F-7392-4E99-9C91-5896823F3394}" destId="{8B3D0545-ADE5-4138-9F0F-F2710E3452D8}" srcOrd="4" destOrd="0" parTransId="{5F341CE3-4CCD-4B6E-89F0-57D30ACB3036}" sibTransId="{99B87716-A2E2-4876-B6F6-C8422BCE4B7F}"/>
    <dgm:cxn modelId="{99276C83-1DF6-480D-987C-5D56BDEB5EC5}" srcId="{87DBF78F-7392-4E99-9C91-5896823F3394}" destId="{57A15E2C-43D2-4A34-B0CC-4B41D88B922B}" srcOrd="0" destOrd="0" parTransId="{48BA7B90-C89B-4E35-9DB3-0003D6BF9F90}" sibTransId="{3F782E96-31D6-41B2-A1D9-BD114B631707}"/>
    <dgm:cxn modelId="{4926D2B8-8A50-4EE5-B073-C5724506C15D}" type="presOf" srcId="{851B5B9A-058D-4EE8-A7BC-D44C0F0247E1}" destId="{CDC6495E-1606-4022-91EF-3F08C62B98F2}" srcOrd="0" destOrd="0" presId="urn:microsoft.com/office/officeart/2018/2/layout/IconLabelList"/>
    <dgm:cxn modelId="{423291BF-AA82-4205-A339-87102B1890E7}" type="presOf" srcId="{8B3D0545-ADE5-4138-9F0F-F2710E3452D8}" destId="{B930A104-85FD-4D21-9690-A59B86B40A71}" srcOrd="0" destOrd="0" presId="urn:microsoft.com/office/officeart/2018/2/layout/IconLabelList"/>
    <dgm:cxn modelId="{2A8000D3-9CAC-4B9F-A21A-A97A9E0FB515}" srcId="{87DBF78F-7392-4E99-9C91-5896823F3394}" destId="{851B5B9A-058D-4EE8-A7BC-D44C0F0247E1}" srcOrd="1" destOrd="0" parTransId="{DFD1FEFC-6AFD-47D6-933A-4BFFC3791F56}" sibTransId="{CDAB5770-D0AA-4F0A-8C7A-70A3936EAE06}"/>
    <dgm:cxn modelId="{37C5C3D9-6081-4BE2-A32C-E8B2F83A697B}" srcId="{87DBF78F-7392-4E99-9C91-5896823F3394}" destId="{76F3E2EE-D507-4AC9-AF3F-77A2BBC90AF0}" srcOrd="3" destOrd="0" parTransId="{39250E4C-5A75-4C65-9748-2A05112311E7}" sibTransId="{54E11B8F-C7CD-482E-B1CC-BA0C1B4B97D9}"/>
    <dgm:cxn modelId="{A55072F3-BB69-411F-A9BA-50BDA7B2EFDB}" type="presParOf" srcId="{D104203F-1E12-4513-B25A-37CD077AA33F}" destId="{B994D453-0978-4244-9B6B-2440F5E7353A}" srcOrd="0" destOrd="0" presId="urn:microsoft.com/office/officeart/2018/2/layout/IconLabelList"/>
    <dgm:cxn modelId="{F8BAE46A-B98B-405A-967E-801661AA430B}" type="presParOf" srcId="{B994D453-0978-4244-9B6B-2440F5E7353A}" destId="{32E67A37-84A9-4BEB-9593-C5438F73B67F}" srcOrd="0" destOrd="0" presId="urn:microsoft.com/office/officeart/2018/2/layout/IconLabelList"/>
    <dgm:cxn modelId="{3B35F46F-DC22-41B3-89F3-4F67A45A16B2}" type="presParOf" srcId="{B994D453-0978-4244-9B6B-2440F5E7353A}" destId="{308A1436-FE24-484C-868E-51AD52E3C54A}" srcOrd="1" destOrd="0" presId="urn:microsoft.com/office/officeart/2018/2/layout/IconLabelList"/>
    <dgm:cxn modelId="{1FB39071-9F15-4BE6-A138-0DA7BE537918}" type="presParOf" srcId="{B994D453-0978-4244-9B6B-2440F5E7353A}" destId="{BB273A17-91D5-407A-A55F-2185EDF73C6E}" srcOrd="2" destOrd="0" presId="urn:microsoft.com/office/officeart/2018/2/layout/IconLabelList"/>
    <dgm:cxn modelId="{DA3C8C0A-C7D8-4692-90AD-37B24D62DFB0}" type="presParOf" srcId="{D104203F-1E12-4513-B25A-37CD077AA33F}" destId="{66CFF434-D4BD-4163-9124-4C7CB0E3931B}" srcOrd="1" destOrd="0" presId="urn:microsoft.com/office/officeart/2018/2/layout/IconLabelList"/>
    <dgm:cxn modelId="{F3559198-FD9D-488A-97B5-7AF79D34983B}" type="presParOf" srcId="{D104203F-1E12-4513-B25A-37CD077AA33F}" destId="{9E95D824-6CB9-4C63-A381-A400D2AB3ECF}" srcOrd="2" destOrd="0" presId="urn:microsoft.com/office/officeart/2018/2/layout/IconLabelList"/>
    <dgm:cxn modelId="{02EAA8DE-AF7A-4B65-B4AC-46CE86AFF172}" type="presParOf" srcId="{9E95D824-6CB9-4C63-A381-A400D2AB3ECF}" destId="{1A175DB1-4367-4F43-A29D-89B2B8643846}" srcOrd="0" destOrd="0" presId="urn:microsoft.com/office/officeart/2018/2/layout/IconLabelList"/>
    <dgm:cxn modelId="{4CB8EF08-622A-42B9-B240-985AAFB8D043}" type="presParOf" srcId="{9E95D824-6CB9-4C63-A381-A400D2AB3ECF}" destId="{1899E17B-7858-484F-AC6F-185D551FD1E6}" srcOrd="1" destOrd="0" presId="urn:microsoft.com/office/officeart/2018/2/layout/IconLabelList"/>
    <dgm:cxn modelId="{CD3D6866-4954-4241-9BC9-EDFF4131569F}" type="presParOf" srcId="{9E95D824-6CB9-4C63-A381-A400D2AB3ECF}" destId="{CDC6495E-1606-4022-91EF-3F08C62B98F2}" srcOrd="2" destOrd="0" presId="urn:microsoft.com/office/officeart/2018/2/layout/IconLabelList"/>
    <dgm:cxn modelId="{65124DF0-8B43-4101-9420-C60C2B14AC58}" type="presParOf" srcId="{D104203F-1E12-4513-B25A-37CD077AA33F}" destId="{72884DE7-7C97-465D-8A1A-276638EF8A0F}" srcOrd="3" destOrd="0" presId="urn:microsoft.com/office/officeart/2018/2/layout/IconLabelList"/>
    <dgm:cxn modelId="{BD2FBF14-09B6-43DD-AE9A-EE2D41DC1BDB}" type="presParOf" srcId="{D104203F-1E12-4513-B25A-37CD077AA33F}" destId="{C8E3C727-188F-4C9E-A572-B5F603317F47}" srcOrd="4" destOrd="0" presId="urn:microsoft.com/office/officeart/2018/2/layout/IconLabelList"/>
    <dgm:cxn modelId="{42278DE6-CCE7-463E-A062-AEF317E20E42}" type="presParOf" srcId="{C8E3C727-188F-4C9E-A572-B5F603317F47}" destId="{2F98FBC5-4E9E-481B-93CE-80E83262EB3A}" srcOrd="0" destOrd="0" presId="urn:microsoft.com/office/officeart/2018/2/layout/IconLabelList"/>
    <dgm:cxn modelId="{A9F1BBF4-229A-439D-B602-DD046801A18C}" type="presParOf" srcId="{C8E3C727-188F-4C9E-A572-B5F603317F47}" destId="{87371D82-BA32-4E4A-9080-5764455E6DBC}" srcOrd="1" destOrd="0" presId="urn:microsoft.com/office/officeart/2018/2/layout/IconLabelList"/>
    <dgm:cxn modelId="{E044216F-2CD7-4B12-A495-A46EA760D21F}" type="presParOf" srcId="{C8E3C727-188F-4C9E-A572-B5F603317F47}" destId="{AA7A2F17-2149-40F7-BE52-FECB90AE78EA}" srcOrd="2" destOrd="0" presId="urn:microsoft.com/office/officeart/2018/2/layout/IconLabelList"/>
    <dgm:cxn modelId="{034BC817-821A-40EE-BD2A-058B95991B37}" type="presParOf" srcId="{D104203F-1E12-4513-B25A-37CD077AA33F}" destId="{E587FBAA-0512-46AF-A43F-F63D575A929E}" srcOrd="5" destOrd="0" presId="urn:microsoft.com/office/officeart/2018/2/layout/IconLabelList"/>
    <dgm:cxn modelId="{B0630F70-86AA-4DBF-99BC-C1DCB1AB2EE2}" type="presParOf" srcId="{D104203F-1E12-4513-B25A-37CD077AA33F}" destId="{9B1C6EC1-D8A0-491D-9EF8-47B9B5BECE51}" srcOrd="6" destOrd="0" presId="urn:microsoft.com/office/officeart/2018/2/layout/IconLabelList"/>
    <dgm:cxn modelId="{3778A7E4-29AF-43B9-B65D-DB9CCE9B1370}" type="presParOf" srcId="{9B1C6EC1-D8A0-491D-9EF8-47B9B5BECE51}" destId="{8102EFBD-6DCF-413C-B0F0-44E293A98448}" srcOrd="0" destOrd="0" presId="urn:microsoft.com/office/officeart/2018/2/layout/IconLabelList"/>
    <dgm:cxn modelId="{3AA42E97-4A5F-4969-8CB3-E818D996FB71}" type="presParOf" srcId="{9B1C6EC1-D8A0-491D-9EF8-47B9B5BECE51}" destId="{ADF3F73F-8F8B-4CC2-B27B-A230D07837E0}" srcOrd="1" destOrd="0" presId="urn:microsoft.com/office/officeart/2018/2/layout/IconLabelList"/>
    <dgm:cxn modelId="{5ED99388-0F2A-4B97-8D5A-9823EAAE0750}" type="presParOf" srcId="{9B1C6EC1-D8A0-491D-9EF8-47B9B5BECE51}" destId="{689FA031-CD71-4C74-8426-C3702B8C635F}" srcOrd="2" destOrd="0" presId="urn:microsoft.com/office/officeart/2018/2/layout/IconLabelList"/>
    <dgm:cxn modelId="{5A75A0E4-77A5-497F-A612-342B38D1EE17}" type="presParOf" srcId="{D104203F-1E12-4513-B25A-37CD077AA33F}" destId="{60EDF0C4-3457-4224-81C8-03CA10DC92DB}" srcOrd="7" destOrd="0" presId="urn:microsoft.com/office/officeart/2018/2/layout/IconLabelList"/>
    <dgm:cxn modelId="{039C741C-7B47-4F77-AABA-A5C217854AE8}" type="presParOf" srcId="{D104203F-1E12-4513-B25A-37CD077AA33F}" destId="{16FFB465-0801-483F-A207-137965B8F704}" srcOrd="8" destOrd="0" presId="urn:microsoft.com/office/officeart/2018/2/layout/IconLabelList"/>
    <dgm:cxn modelId="{976BC272-39EF-4069-A25B-461CF9CBC8A2}" type="presParOf" srcId="{16FFB465-0801-483F-A207-137965B8F704}" destId="{5E1C6C2D-9C80-4300-AA99-487FA5D9EF56}" srcOrd="0" destOrd="0" presId="urn:microsoft.com/office/officeart/2018/2/layout/IconLabelList"/>
    <dgm:cxn modelId="{2D5530E4-AF52-434E-83E5-F0FCE93D7A90}" type="presParOf" srcId="{16FFB465-0801-483F-A207-137965B8F704}" destId="{B811C09A-F378-4D9A-843A-FA8F9509EE68}" srcOrd="1" destOrd="0" presId="urn:microsoft.com/office/officeart/2018/2/layout/IconLabelList"/>
    <dgm:cxn modelId="{9D89E77A-9766-4259-8E71-5FFB99813964}" type="presParOf" srcId="{16FFB465-0801-483F-A207-137965B8F704}" destId="{B930A104-85FD-4D21-9690-A59B86B40A7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E67A37-84A9-4BEB-9593-C5438F73B67F}">
      <dsp:nvSpPr>
        <dsp:cNvPr id="0" name=""/>
        <dsp:cNvSpPr/>
      </dsp:nvSpPr>
      <dsp:spPr>
        <a:xfrm>
          <a:off x="62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273A17-91D5-407A-A55F-2185EDF73C6E}">
      <dsp:nvSpPr>
        <dsp:cNvPr id="0" name=""/>
        <dsp:cNvSpPr/>
      </dsp:nvSpPr>
      <dsp:spPr>
        <a:xfrm>
          <a:off x="12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Where are Rockbuster’s customers located?</a:t>
          </a:r>
        </a:p>
      </dsp:txBody>
      <dsp:txXfrm>
        <a:off x="127800" y="2355670"/>
        <a:ext cx="1800000" cy="720000"/>
      </dsp:txXfrm>
    </dsp:sp>
    <dsp:sp modelId="{1A175DB1-4367-4F43-A29D-89B2B8643846}">
      <dsp:nvSpPr>
        <dsp:cNvPr id="0" name=""/>
        <dsp:cNvSpPr/>
      </dsp:nvSpPr>
      <dsp:spPr>
        <a:xfrm>
          <a:off x="2737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C6495E-1606-4022-91EF-3F08C62B98F2}">
      <dsp:nvSpPr>
        <dsp:cNvPr id="0" name=""/>
        <dsp:cNvSpPr/>
      </dsp:nvSpPr>
      <dsp:spPr>
        <a:xfrm>
          <a:off x="224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Which countries generate the most revenue?</a:t>
          </a:r>
        </a:p>
      </dsp:txBody>
      <dsp:txXfrm>
        <a:off x="2242800" y="2355670"/>
        <a:ext cx="1800000" cy="720000"/>
      </dsp:txXfrm>
    </dsp:sp>
    <dsp:sp modelId="{2F98FBC5-4E9E-481B-93CE-80E83262EB3A}">
      <dsp:nvSpPr>
        <dsp:cNvPr id="0" name=""/>
        <dsp:cNvSpPr/>
      </dsp:nvSpPr>
      <dsp:spPr>
        <a:xfrm>
          <a:off x="485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A2F17-2149-40F7-BE52-FECB90AE78EA}">
      <dsp:nvSpPr>
        <dsp:cNvPr id="0" name=""/>
        <dsp:cNvSpPr/>
      </dsp:nvSpPr>
      <dsp:spPr>
        <a:xfrm>
          <a:off x="435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Are revenue and customer count aligned?</a:t>
          </a:r>
        </a:p>
      </dsp:txBody>
      <dsp:txXfrm>
        <a:off x="4357800" y="2355670"/>
        <a:ext cx="1800000" cy="720000"/>
      </dsp:txXfrm>
    </dsp:sp>
    <dsp:sp modelId="{8102EFBD-6DCF-413C-B0F0-44E293A98448}">
      <dsp:nvSpPr>
        <dsp:cNvPr id="0" name=""/>
        <dsp:cNvSpPr/>
      </dsp:nvSpPr>
      <dsp:spPr>
        <a:xfrm>
          <a:off x="6967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FA031-CD71-4C74-8426-C3702B8C635F}">
      <dsp:nvSpPr>
        <dsp:cNvPr id="0" name=""/>
        <dsp:cNvSpPr/>
      </dsp:nvSpPr>
      <dsp:spPr>
        <a:xfrm>
          <a:off x="6472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Who are the most valuable customers? </a:t>
          </a:r>
        </a:p>
      </dsp:txBody>
      <dsp:txXfrm>
        <a:off x="6472800" y="2355670"/>
        <a:ext cx="1800000" cy="720000"/>
      </dsp:txXfrm>
    </dsp:sp>
    <dsp:sp modelId="{5E1C6C2D-9C80-4300-AA99-487FA5D9EF56}">
      <dsp:nvSpPr>
        <dsp:cNvPr id="0" name=""/>
        <dsp:cNvSpPr/>
      </dsp:nvSpPr>
      <dsp:spPr>
        <a:xfrm>
          <a:off x="9082800" y="1275667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0A104-85FD-4D21-9690-A59B86B40A71}">
      <dsp:nvSpPr>
        <dsp:cNvPr id="0" name=""/>
        <dsp:cNvSpPr/>
      </dsp:nvSpPr>
      <dsp:spPr>
        <a:xfrm>
          <a:off x="8587800" y="235567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How do rental behaviors impact operations?</a:t>
          </a:r>
        </a:p>
      </dsp:txBody>
      <dsp:txXfrm>
        <a:off x="8587800" y="2355670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788B-B9AA-821E-E0C1-384989E3C6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81CFB0-206E-774D-D91C-71BB90399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8FE88-A568-6B73-89C7-86340F7CD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3525-7AB5-41C6-BC45-62B115372EC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60493-47EC-F0F4-A56D-9E88B3933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173C6-B217-7F7F-0821-6FC05E7C2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8273-4981-4979-BAD3-2F722BB1A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20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345CB-0202-EA8A-5FD7-5BC0DD898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EDED4-664F-E140-183A-8ACD40E15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67FA7-E53E-7943-FE90-23260DC94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3525-7AB5-41C6-BC45-62B115372EC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AA816-1FAE-B5BC-75DB-0295B2EFE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8340-5CAF-389C-893D-DFA6E83BD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8273-4981-4979-BAD3-2F722BB1A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96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D4889-E363-49D6-F90B-448004B48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D9F44-5D30-CE5A-794C-96D479F06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05A30-19BE-4C52-D641-68837386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3525-7AB5-41C6-BC45-62B115372EC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5EF57-756E-F5B7-13C5-A93607D1C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69022-1D35-6892-91EC-55BE4EC38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8273-4981-4979-BAD3-2F722BB1A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5C10-8258-5881-4EB8-5EBA54084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4CFFD-A3A6-201C-1E30-A29A0EEB6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D41B2-1789-DB09-1905-B1B09946D7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BCB91-6904-D3D8-24DC-053E1B987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3525-7AB5-41C6-BC45-62B115372EC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A4278-5F49-0244-77D2-CAE598033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4795C-69CB-5CA3-83A6-70783092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8273-4981-4979-BAD3-2F722BB1A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20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1B282-FBAF-5A99-F2B7-4ECA51433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F9A0A-6CCA-50BB-4109-794BEF744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4FF11-5C13-20FF-07B1-A44DBEC9C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A2482-9C19-2BC2-DE15-E370B4192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4B4452-8BCC-5418-6A88-F5B8C0241E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1B9775-08E8-58D4-581F-A9BC994E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3525-7AB5-41C6-BC45-62B115372EC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4AACE7-E0AF-1C46-FE6B-442245B2D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98C7C5-BCB7-5563-0C7C-D8E4B5D0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8273-4981-4979-BAD3-2F722BB1A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91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34BBA-5C37-65B9-71A6-70C1DFEFE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605FEC-0213-F7F6-5049-A2F28E79A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3525-7AB5-41C6-BC45-62B115372EC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AAF8C-8876-EA48-AEDB-B9050DF90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017F5-A48E-7E28-54FF-A493CA51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8273-4981-4979-BAD3-2F722BB1A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64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83F2A-4B6F-7CE1-6DD4-64C45D46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3525-7AB5-41C6-BC45-62B115372EC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28FD17-77D0-4E0C-60F6-49FD50D47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F5E248-6815-7AE6-7401-389BB8FD4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8273-4981-4979-BAD3-2F722BB1A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09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68609-A9FA-8FA6-E6A1-D0E146ECC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9B741-8EB0-D5FB-95F2-5A8D0E610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DD7CE0-FE86-8032-F411-EEF90643A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D81BB-2B59-A701-19F0-749CC3037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3525-7AB5-41C6-BC45-62B115372EC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1F511-9B93-A453-9062-B05D39695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44BD7-EFD5-A41E-B454-034326A2B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8273-4981-4979-BAD3-2F722BB1A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8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D1DE4-CA3F-FD8A-7F52-94A1C21FA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B0CD78-401C-1724-0C22-8499F55FA5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F61F8-0848-DF0C-E287-120430499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08E09-EFC0-42AA-900B-92FE68929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3525-7AB5-41C6-BC45-62B115372EC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2381C-C527-10B5-C466-B004F0821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F71AD-1921-8BAD-66E7-17451DCB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8273-4981-4979-BAD3-2F722BB1A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083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49D9-C9C2-FB6A-82A7-1304F37BD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3457B-65CC-AB40-CDFE-13D46690A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B7598-D348-0646-6A07-8BAEFF366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3525-7AB5-41C6-BC45-62B115372EC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295A8-0D7D-2F7C-3D81-E5ABA2216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C903B-FBC7-7683-742D-5AEAA1A63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8273-4981-4979-BAD3-2F722BB1A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956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2F3012-E986-691F-5350-6F478DDB24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41182-170C-0620-398D-6842A73F0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85003-92AD-D17D-9ACE-3737924AB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3525-7AB5-41C6-BC45-62B115372EC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8285C-FE75-3496-4B23-1118464DD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9E9C1-8AF5-9BA1-D55E-AB34210B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68273-4981-4979-BAD3-2F722BB1A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23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75E2FD-8AB5-0897-F094-EB89B74A9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0E88C-DA02-AD64-E217-7A5C1BED4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9E54C-94E3-E39A-1B1A-DA60FEC2E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183525-7AB5-41C6-BC45-62B115372EC2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9984-5305-079B-23FB-7CC74DC231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4B615-DA30-AB5F-2B46-3E3988042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F68273-4981-4979-BAD3-2F722BB1A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1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2401AE1-B47B-3C32-AE31-A5C1A5D75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Rockbuster Stealth: Customer, Revenue, and Rental Analysis</a:t>
            </a:r>
            <a:br>
              <a:rPr lang="en-US" sz="4000">
                <a:solidFill>
                  <a:schemeClr val="tx2"/>
                </a:solidFill>
              </a:rPr>
            </a:br>
            <a:endParaRPr lang="en-US" sz="40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3AC17-DD84-E4A6-3E16-070D4166B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By: Lashai Simon Lambert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74522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AF104-0A1D-019A-258B-DA13CAE18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Adapting to a Digital Future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EE430-2D0E-D66D-D0B2-AFC16B9C8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152067"/>
            <a:ext cx="9833548" cy="2693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With the rise of streaming platforms, Rockbuster Stealth LLC must adapt its traditional rental business to remain competitive.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The company plans to launch an online video rental service by leveraging its existing movie licenses.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This analysis used </a:t>
            </a:r>
            <a:r>
              <a:rPr lang="en-US" sz="1800" dirty="0" err="1">
                <a:solidFill>
                  <a:schemeClr val="tx2"/>
                </a:solidFill>
              </a:rPr>
              <a:t>Rockbuster’s</a:t>
            </a:r>
            <a:r>
              <a:rPr lang="en-US" sz="1800" dirty="0">
                <a:solidFill>
                  <a:schemeClr val="tx2"/>
                </a:solidFill>
              </a:rPr>
              <a:t> historical data to uncover the key insights and trends that will inform the best leadership strategy for the company’s digital expansion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4189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73362D-67CA-9076-5CA8-16D65696C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/>
              <a:t>Business Objective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071D1C10-FA39-FC33-E0E8-AE754BEF5D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5245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3207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AF7F97-7CFB-6B4F-2A67-91B45E2B9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3800"/>
              <a:t>Where are Rockbuster Customers Located?</a:t>
            </a:r>
          </a:p>
        </p:txBody>
      </p:sp>
      <p:sp>
        <p:nvSpPr>
          <p:cNvPr id="109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53067-A9FF-E856-CDDE-012D2A83C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Customers are globally distributed with higher concentrations in Asia, Europe and North America</a:t>
            </a:r>
          </a:p>
          <a:p>
            <a:r>
              <a:rPr lang="en-US" sz="2200" dirty="0"/>
              <a:t>Some regions show high customer counts but lower revenue contribution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43BD1F-4084-5FED-4C03-C31E9C2BB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658" y="231363"/>
            <a:ext cx="5353844" cy="656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42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38B523-6905-815D-89C0-94585B918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Revenue by Country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B83B5-FA08-A480-6797-D895DD996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Revenue is unevenly distributed across countries</a:t>
            </a:r>
          </a:p>
          <a:p>
            <a:r>
              <a:rPr lang="en-US" sz="2200"/>
              <a:t>Not all countries with many customers generate high revenue</a:t>
            </a:r>
          </a:p>
        </p:txBody>
      </p:sp>
      <p:pic>
        <p:nvPicPr>
          <p:cNvPr id="5" name="Picture 4" descr="A map of the world&#10;&#10;AI-generated content may be incorrect.">
            <a:extLst>
              <a:ext uri="{FF2B5EF4-FFF2-40B4-BE49-F238E27FC236}">
                <a16:creationId xmlns:a16="http://schemas.microsoft.com/office/drawing/2014/main" id="{4AF628E0-0D1D-4E93-4EED-BF15BB92A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806626"/>
            <a:ext cx="6903720" cy="324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942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FEEFE4-1C67-9940-2AB7-6C34C7477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Top 10 Countries by Revenue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EC97A-086C-4269-6840-82F01B30E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/>
              <a:t>India and China are the top revenue generating countries </a:t>
            </a:r>
          </a:p>
          <a:p>
            <a:r>
              <a:rPr lang="en-US" sz="2200"/>
              <a:t>The top 3 countries contribute a significant portion of total revenue</a:t>
            </a:r>
          </a:p>
          <a:p>
            <a:r>
              <a:rPr lang="en-US" sz="2200"/>
              <a:t>Several countries generate relatively low revenue despite global presence.</a:t>
            </a:r>
          </a:p>
        </p:txBody>
      </p:sp>
      <p:pic>
        <p:nvPicPr>
          <p:cNvPr id="5" name="Picture 4" descr="A graph of the number of countries/regions&#10;&#10;AI-generated content may be incorrect.">
            <a:extLst>
              <a:ext uri="{FF2B5EF4-FFF2-40B4-BE49-F238E27FC236}">
                <a16:creationId xmlns:a16="http://schemas.microsoft.com/office/drawing/2014/main" id="{96AE7571-C473-B8FE-5050-1BF232921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646" y="640080"/>
            <a:ext cx="4587772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665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5CC5F7-12D5-4A24-E3C5-5EF456A4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2"/>
            <a:ext cx="10175631" cy="111184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/>
              <a:t>Top Performing Customers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ACAC8-FBC8-090D-0A3A-0382E2B44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184" y="1459907"/>
            <a:ext cx="10175630" cy="767904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1900"/>
              <a:t>Sara Perry from Atlixco, Mexico is the top performing customer with a total amount of $128.70</a:t>
            </a:r>
          </a:p>
          <a:p>
            <a:pPr marL="0" indent="0" algn="ctr">
              <a:buNone/>
            </a:pPr>
            <a:r>
              <a:rPr lang="en-US" sz="1900"/>
              <a:t>	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816916-4290-CE71-3FD9-49DA8EEF0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89101"/>
              </p:ext>
            </p:extLst>
          </p:nvPr>
        </p:nvGraphicFramePr>
        <p:xfrm>
          <a:off x="837141" y="2405149"/>
          <a:ext cx="10511623" cy="3899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9469">
                  <a:extLst>
                    <a:ext uri="{9D8B030D-6E8A-4147-A177-3AD203B41FA5}">
                      <a16:colId xmlns:a16="http://schemas.microsoft.com/office/drawing/2014/main" val="478869327"/>
                    </a:ext>
                  </a:extLst>
                </a:gridCol>
                <a:gridCol w="4037251">
                  <a:extLst>
                    <a:ext uri="{9D8B030D-6E8A-4147-A177-3AD203B41FA5}">
                      <a16:colId xmlns:a16="http://schemas.microsoft.com/office/drawing/2014/main" val="500638578"/>
                    </a:ext>
                  </a:extLst>
                </a:gridCol>
                <a:gridCol w="3544903">
                  <a:extLst>
                    <a:ext uri="{9D8B030D-6E8A-4147-A177-3AD203B41FA5}">
                      <a16:colId xmlns:a16="http://schemas.microsoft.com/office/drawing/2014/main" val="728379810"/>
                    </a:ext>
                  </a:extLst>
                </a:gridCol>
              </a:tblGrid>
              <a:tr h="649899">
                <a:tc>
                  <a:txBody>
                    <a:bodyPr/>
                    <a:lstStyle/>
                    <a:p>
                      <a:r>
                        <a:rPr lang="en-US" sz="2900"/>
                        <a:t>Customer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r>
                        <a:rPr lang="en-US" sz="2900"/>
                        <a:t>City, Country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r>
                        <a:rPr lang="en-US" sz="2900"/>
                        <a:t>Total Amount Paid</a:t>
                      </a:r>
                    </a:p>
                  </a:txBody>
                  <a:tcPr marL="147704" marR="147704" marT="73852" marB="73852"/>
                </a:tc>
                <a:extLst>
                  <a:ext uri="{0D108BD9-81ED-4DB2-BD59-A6C34878D82A}">
                    <a16:rowId xmlns:a16="http://schemas.microsoft.com/office/drawing/2014/main" val="2351952910"/>
                  </a:ext>
                </a:extLst>
              </a:tr>
              <a:tr h="649899">
                <a:tc>
                  <a:txBody>
                    <a:bodyPr/>
                    <a:lstStyle/>
                    <a:p>
                      <a:r>
                        <a:rPr lang="en-US" sz="2900"/>
                        <a:t>Sara Perry 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r>
                        <a:rPr lang="en-US" sz="2900"/>
                        <a:t>Atlixco, Mexico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r>
                        <a:rPr lang="en-US" sz="2900"/>
                        <a:t>$128.70</a:t>
                      </a:r>
                    </a:p>
                  </a:txBody>
                  <a:tcPr marL="147704" marR="147704" marT="73852" marB="73852"/>
                </a:tc>
                <a:extLst>
                  <a:ext uri="{0D108BD9-81ED-4DB2-BD59-A6C34878D82A}">
                    <a16:rowId xmlns:a16="http://schemas.microsoft.com/office/drawing/2014/main" val="1265487982"/>
                  </a:ext>
                </a:extLst>
              </a:tr>
              <a:tr h="649899">
                <a:tc>
                  <a:txBody>
                    <a:bodyPr/>
                    <a:lstStyle/>
                    <a:p>
                      <a:r>
                        <a:rPr lang="en-US" sz="2900"/>
                        <a:t>Gabriel Harder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r>
                        <a:rPr lang="en-US" sz="2900"/>
                        <a:t>Sivas, Turkey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r>
                        <a:rPr lang="en-US" sz="2900"/>
                        <a:t>$108.75</a:t>
                      </a:r>
                    </a:p>
                  </a:txBody>
                  <a:tcPr marL="147704" marR="147704" marT="73852" marB="73852"/>
                </a:tc>
                <a:extLst>
                  <a:ext uri="{0D108BD9-81ED-4DB2-BD59-A6C34878D82A}">
                    <a16:rowId xmlns:a16="http://schemas.microsoft.com/office/drawing/2014/main" val="3629735552"/>
                  </a:ext>
                </a:extLst>
              </a:tr>
              <a:tr h="649899">
                <a:tc>
                  <a:txBody>
                    <a:bodyPr/>
                    <a:lstStyle/>
                    <a:p>
                      <a:r>
                        <a:rPr lang="en-US" sz="2900"/>
                        <a:t>Serio Stanfield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r>
                        <a:rPr lang="en-US" sz="2900"/>
                        <a:t>Celaya, Mexico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r>
                        <a:rPr lang="en-US" sz="2900"/>
                        <a:t>$102.76</a:t>
                      </a:r>
                    </a:p>
                  </a:txBody>
                  <a:tcPr marL="147704" marR="147704" marT="73852" marB="73852"/>
                </a:tc>
                <a:extLst>
                  <a:ext uri="{0D108BD9-81ED-4DB2-BD59-A6C34878D82A}">
                    <a16:rowId xmlns:a16="http://schemas.microsoft.com/office/drawing/2014/main" val="2508723506"/>
                  </a:ext>
                </a:extLst>
              </a:tr>
              <a:tr h="649899">
                <a:tc>
                  <a:txBody>
                    <a:bodyPr/>
                    <a:lstStyle/>
                    <a:p>
                      <a:r>
                        <a:rPr lang="en-US" sz="2900"/>
                        <a:t>Clinton Buford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r>
                        <a:rPr lang="en-US" sz="2900"/>
                        <a:t>Aurora, United States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r>
                        <a:rPr lang="en-US" sz="2900"/>
                        <a:t>$98.76</a:t>
                      </a:r>
                    </a:p>
                  </a:txBody>
                  <a:tcPr marL="147704" marR="147704" marT="73852" marB="73852"/>
                </a:tc>
                <a:extLst>
                  <a:ext uri="{0D108BD9-81ED-4DB2-BD59-A6C34878D82A}">
                    <a16:rowId xmlns:a16="http://schemas.microsoft.com/office/drawing/2014/main" val="483775307"/>
                  </a:ext>
                </a:extLst>
              </a:tr>
              <a:tr h="649899">
                <a:tc>
                  <a:txBody>
                    <a:bodyPr/>
                    <a:lstStyle/>
                    <a:p>
                      <a:r>
                        <a:rPr lang="en-US" sz="2900"/>
                        <a:t>Adam Gooch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r>
                        <a:rPr lang="en-US" sz="2900"/>
                        <a:t>Adoni, India</a:t>
                      </a:r>
                    </a:p>
                  </a:txBody>
                  <a:tcPr marL="147704" marR="147704" marT="73852" marB="73852"/>
                </a:tc>
                <a:tc>
                  <a:txBody>
                    <a:bodyPr/>
                    <a:lstStyle/>
                    <a:p>
                      <a:r>
                        <a:rPr lang="en-US" sz="2900"/>
                        <a:t>$97.80</a:t>
                      </a:r>
                    </a:p>
                  </a:txBody>
                  <a:tcPr marL="147704" marR="147704" marT="73852" marB="73852"/>
                </a:tc>
                <a:extLst>
                  <a:ext uri="{0D108BD9-81ED-4DB2-BD59-A6C34878D82A}">
                    <a16:rowId xmlns:a16="http://schemas.microsoft.com/office/drawing/2014/main" val="910322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188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106892-8DF0-3509-0A1B-670B63D0B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3000"/>
              <a:t>Movie Rental Behavior Overview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7E7436-453E-ACA8-8123-561AEF208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1500"/>
              <a:t>Film lengths have a broad range with 115 minutes being the average.</a:t>
            </a:r>
          </a:p>
          <a:p>
            <a:r>
              <a:rPr lang="en-US" sz="1500"/>
              <a:t>Rental prices have an average rate of $2.98 </a:t>
            </a:r>
          </a:p>
          <a:p>
            <a:r>
              <a:rPr lang="en-US" sz="1500"/>
              <a:t>Most movies are rented for 5 days and cost on average $19.98 to replace </a:t>
            </a:r>
          </a:p>
          <a:p>
            <a:r>
              <a:rPr lang="en-US" sz="1500"/>
              <a:t>Moving to a digital formal will remove this cost for the customer. 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1A42B36-C393-216C-840A-DCDD184C45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57859"/>
              </p:ext>
            </p:extLst>
          </p:nvPr>
        </p:nvGraphicFramePr>
        <p:xfrm>
          <a:off x="630936" y="2608121"/>
          <a:ext cx="10917938" cy="3324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359">
                  <a:extLst>
                    <a:ext uri="{9D8B030D-6E8A-4147-A177-3AD203B41FA5}">
                      <a16:colId xmlns:a16="http://schemas.microsoft.com/office/drawing/2014/main" val="1037120942"/>
                    </a:ext>
                  </a:extLst>
                </a:gridCol>
                <a:gridCol w="2693193">
                  <a:extLst>
                    <a:ext uri="{9D8B030D-6E8A-4147-A177-3AD203B41FA5}">
                      <a16:colId xmlns:a16="http://schemas.microsoft.com/office/drawing/2014/main" val="2846019496"/>
                    </a:ext>
                  </a:extLst>
                </a:gridCol>
                <a:gridCol w="2693193">
                  <a:extLst>
                    <a:ext uri="{9D8B030D-6E8A-4147-A177-3AD203B41FA5}">
                      <a16:colId xmlns:a16="http://schemas.microsoft.com/office/drawing/2014/main" val="3435299290"/>
                    </a:ext>
                  </a:extLst>
                </a:gridCol>
                <a:gridCol w="2693193">
                  <a:extLst>
                    <a:ext uri="{9D8B030D-6E8A-4147-A177-3AD203B41FA5}">
                      <a16:colId xmlns:a16="http://schemas.microsoft.com/office/drawing/2014/main" val="3002683649"/>
                    </a:ext>
                  </a:extLst>
                </a:gridCol>
              </a:tblGrid>
              <a:tr h="582891">
                <a:tc>
                  <a:txBody>
                    <a:bodyPr/>
                    <a:lstStyle/>
                    <a:p>
                      <a:endParaRPr lang="en-US" sz="2700"/>
                    </a:p>
                  </a:txBody>
                  <a:tcPr marL="135868" marR="135868" marT="67934" marB="67934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Minimum </a:t>
                      </a:r>
                    </a:p>
                  </a:txBody>
                  <a:tcPr marL="135868" marR="135868" marT="67934" marB="67934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Maximum</a:t>
                      </a:r>
                    </a:p>
                  </a:txBody>
                  <a:tcPr marL="135868" marR="135868" marT="67934" marB="67934"/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Average</a:t>
                      </a:r>
                    </a:p>
                  </a:txBody>
                  <a:tcPr marL="135868" marR="135868" marT="67934" marB="67934"/>
                </a:tc>
                <a:extLst>
                  <a:ext uri="{0D108BD9-81ED-4DB2-BD59-A6C34878D82A}">
                    <a16:rowId xmlns:a16="http://schemas.microsoft.com/office/drawing/2014/main" val="2782088670"/>
                  </a:ext>
                </a:extLst>
              </a:tr>
              <a:tr h="582891">
                <a:tc>
                  <a:txBody>
                    <a:bodyPr/>
                    <a:lstStyle/>
                    <a:p>
                      <a:r>
                        <a:rPr lang="en-US" sz="2700"/>
                        <a:t>Rental Duration</a:t>
                      </a:r>
                    </a:p>
                  </a:txBody>
                  <a:tcPr marL="135868" marR="135868" marT="67934" marB="67934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3 days </a:t>
                      </a:r>
                    </a:p>
                  </a:txBody>
                  <a:tcPr marL="135868" marR="135868" marT="67934" marB="67934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7 days </a:t>
                      </a:r>
                    </a:p>
                  </a:txBody>
                  <a:tcPr marL="135868" marR="135868" marT="67934" marB="67934"/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5 days </a:t>
                      </a:r>
                    </a:p>
                  </a:txBody>
                  <a:tcPr marL="135868" marR="135868" marT="67934" marB="67934"/>
                </a:tc>
                <a:extLst>
                  <a:ext uri="{0D108BD9-81ED-4DB2-BD59-A6C34878D82A}">
                    <a16:rowId xmlns:a16="http://schemas.microsoft.com/office/drawing/2014/main" val="1624634615"/>
                  </a:ext>
                </a:extLst>
              </a:tr>
              <a:tr h="582891">
                <a:tc>
                  <a:txBody>
                    <a:bodyPr/>
                    <a:lstStyle/>
                    <a:p>
                      <a:r>
                        <a:rPr lang="en-US" sz="2700"/>
                        <a:t>Rental Rate</a:t>
                      </a:r>
                    </a:p>
                  </a:txBody>
                  <a:tcPr marL="135868" marR="135868" marT="67934" marB="67934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$0.99</a:t>
                      </a:r>
                    </a:p>
                  </a:txBody>
                  <a:tcPr marL="135868" marR="135868" marT="67934" marB="67934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$4.99</a:t>
                      </a:r>
                    </a:p>
                  </a:txBody>
                  <a:tcPr marL="135868" marR="135868" marT="67934" marB="67934"/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$2.98</a:t>
                      </a:r>
                    </a:p>
                  </a:txBody>
                  <a:tcPr marL="135868" marR="135868" marT="67934" marB="67934"/>
                </a:tc>
                <a:extLst>
                  <a:ext uri="{0D108BD9-81ED-4DB2-BD59-A6C34878D82A}">
                    <a16:rowId xmlns:a16="http://schemas.microsoft.com/office/drawing/2014/main" val="2087280861"/>
                  </a:ext>
                </a:extLst>
              </a:tr>
              <a:tr h="582891">
                <a:tc>
                  <a:txBody>
                    <a:bodyPr/>
                    <a:lstStyle/>
                    <a:p>
                      <a:r>
                        <a:rPr lang="en-US" sz="2700"/>
                        <a:t>Film Length</a:t>
                      </a:r>
                    </a:p>
                  </a:txBody>
                  <a:tcPr marL="135868" marR="135868" marT="67934" marB="67934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46 minutes </a:t>
                      </a:r>
                    </a:p>
                  </a:txBody>
                  <a:tcPr marL="135868" marR="135868" marT="67934" marB="67934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185 minutes </a:t>
                      </a:r>
                    </a:p>
                  </a:txBody>
                  <a:tcPr marL="135868" marR="135868" marT="67934" marB="67934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115 minutes </a:t>
                      </a:r>
                    </a:p>
                  </a:txBody>
                  <a:tcPr marL="135868" marR="135868" marT="67934" marB="67934"/>
                </a:tc>
                <a:extLst>
                  <a:ext uri="{0D108BD9-81ED-4DB2-BD59-A6C34878D82A}">
                    <a16:rowId xmlns:a16="http://schemas.microsoft.com/office/drawing/2014/main" val="1255154367"/>
                  </a:ext>
                </a:extLst>
              </a:tr>
              <a:tr h="993422">
                <a:tc>
                  <a:txBody>
                    <a:bodyPr/>
                    <a:lstStyle/>
                    <a:p>
                      <a:r>
                        <a:rPr lang="en-US" sz="2700"/>
                        <a:t>Replacement Cost </a:t>
                      </a:r>
                    </a:p>
                  </a:txBody>
                  <a:tcPr marL="135868" marR="135868" marT="67934" marB="67934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$9.99</a:t>
                      </a:r>
                    </a:p>
                  </a:txBody>
                  <a:tcPr marL="135868" marR="135868" marT="67934" marB="67934"/>
                </a:tc>
                <a:tc>
                  <a:txBody>
                    <a:bodyPr/>
                    <a:lstStyle/>
                    <a:p>
                      <a:r>
                        <a:rPr lang="en-US" sz="2700"/>
                        <a:t>$29.99</a:t>
                      </a:r>
                    </a:p>
                  </a:txBody>
                  <a:tcPr marL="135868" marR="135868" marT="67934" marB="67934"/>
                </a:tc>
                <a:tc>
                  <a:txBody>
                    <a:bodyPr/>
                    <a:lstStyle/>
                    <a:p>
                      <a:r>
                        <a:rPr lang="en-US" sz="2700" dirty="0"/>
                        <a:t>$19.98</a:t>
                      </a:r>
                    </a:p>
                  </a:txBody>
                  <a:tcPr marL="135868" marR="135868" marT="67934" marB="67934"/>
                </a:tc>
                <a:extLst>
                  <a:ext uri="{0D108BD9-81ED-4DB2-BD59-A6C34878D82A}">
                    <a16:rowId xmlns:a16="http://schemas.microsoft.com/office/drawing/2014/main" val="363130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014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6063E1-3E08-5AA0-AA53-FFA35F56A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Top Movie Title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67D614B-4B01-124A-7A6E-0D102322C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1700"/>
              <a:t>The top movie titles that were rented were Telegrapgh Voyage. </a:t>
            </a:r>
          </a:p>
          <a:p>
            <a:r>
              <a:rPr lang="en-US" sz="1700"/>
              <a:t>These are the top 10 movies titles based on revenue.</a:t>
            </a:r>
          </a:p>
          <a:p>
            <a:r>
              <a:rPr lang="en-US" sz="1700"/>
              <a:t>These movies have to be in the new streaming platform for Rockbuster.</a:t>
            </a:r>
          </a:p>
          <a:p>
            <a:r>
              <a:rPr lang="en-US" sz="1700"/>
              <a:t>In the marketing stage, these movies need to be shown as top movies which will draw customers in.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600689-D46E-FFF6-FA6D-5914B924D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34032"/>
            <a:ext cx="6903720" cy="358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34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05FAF-800E-90BC-8F77-DA33263E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Let’s Not Add…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E5B4533-DFC3-BDE9-F896-A20F2442F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These are the bottom movie titles generate the least amount of revenue. </a:t>
            </a:r>
          </a:p>
          <a:p>
            <a:r>
              <a:rPr lang="en-US" sz="2200" dirty="0"/>
              <a:t>Duffle Apocalypse, Oklahoma Jumanji, and Texas Watch do not need to be add to the new platform.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6C2DFD-8E5C-35CA-0021-8571AF71C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73625"/>
            <a:ext cx="6903720" cy="371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99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85C7C7-10F0-53D6-56F9-287FE50A8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r>
              <a:rPr lang="en-US" sz="2800"/>
              <a:t>Revenue By Movie Genre and Rating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FC071-0E1B-9BE4-3272-E03012C0C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anchor="ctr">
            <a:normAutofit fontScale="92500"/>
          </a:bodyPr>
          <a:lstStyle/>
          <a:p>
            <a:r>
              <a:rPr lang="en-US" sz="1800" dirty="0"/>
              <a:t>Based on Genre Sports, Sci-fi and Animation bring in the most revenue.</a:t>
            </a:r>
          </a:p>
          <a:p>
            <a:r>
              <a:rPr lang="en-US" sz="1800" dirty="0"/>
              <a:t>Lower performing genres such as Music and Thriller contribute significantly less to the total value </a:t>
            </a:r>
          </a:p>
          <a:p>
            <a:r>
              <a:rPr lang="en-US" sz="1800" dirty="0"/>
              <a:t>PG -13 creates the most revenue by rating while G creates the least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BC67C1-456D-98FB-D320-EF3E81BDE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058" y="2606462"/>
            <a:ext cx="2119899" cy="3639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8ECD61-68BD-9F7D-A90D-0F8489AEA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451" y="2606462"/>
            <a:ext cx="2938743" cy="36393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9D3244-3093-9FC5-00D7-3F5D4AE69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7415" y="3001300"/>
            <a:ext cx="3584448" cy="284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266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BEFCD7-8AC6-4D98-0DCD-D3FE1DF17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Business Recommendations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D5B6F-D76A-16D5-CA2A-CFBBC6643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890979"/>
            <a:ext cx="9833548" cy="2693976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Focus marketing efforts on the top revenue countries India, China and Unites States first and then move in waves into the next few countries</a:t>
            </a:r>
          </a:p>
          <a:p>
            <a:r>
              <a:rPr lang="en-US" sz="1800">
                <a:solidFill>
                  <a:schemeClr val="tx2"/>
                </a:solidFill>
              </a:rPr>
              <a:t>When moving to the digital format, focus on movies that are PG-13, NC-17, and in Sports, Sci-fi and Animation. </a:t>
            </a:r>
          </a:p>
          <a:p>
            <a:r>
              <a:rPr lang="en-US" sz="1800">
                <a:solidFill>
                  <a:schemeClr val="tx2"/>
                </a:solidFill>
              </a:rPr>
              <a:t>There is a big international demand which would suggest the digital format would have multiple subtitle conversations and movies in the languages for the top revenue countries.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5154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579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Rockbuster Stealth: Customer, Revenue, and Rental Analysis </vt:lpstr>
      <vt:lpstr>Adapting to a Digital Future</vt:lpstr>
      <vt:lpstr>Business Objective</vt:lpstr>
      <vt:lpstr>Where are Rockbuster Customers Located?</vt:lpstr>
      <vt:lpstr>Revenue by Country</vt:lpstr>
      <vt:lpstr>Top 10 Countries by Revenue</vt:lpstr>
      <vt:lpstr>Top Performing Customers </vt:lpstr>
      <vt:lpstr>Movie Rental Behavior Overview</vt:lpstr>
      <vt:lpstr>Top Movie Title</vt:lpstr>
      <vt:lpstr>Let’s Not Add…</vt:lpstr>
      <vt:lpstr>Revenue By Movie Genre and Rating</vt:lpstr>
      <vt:lpstr>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Lashai Simon Lambert</dc:creator>
  <cp:lastModifiedBy>Lashai Simon Lambert</cp:lastModifiedBy>
  <cp:revision>3</cp:revision>
  <dcterms:created xsi:type="dcterms:W3CDTF">2026-01-12T15:14:57Z</dcterms:created>
  <dcterms:modified xsi:type="dcterms:W3CDTF">2026-01-12T20:09:43Z</dcterms:modified>
</cp:coreProperties>
</file>